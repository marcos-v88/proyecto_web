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FFFF00"/>
    <a:srgbClr val="FF9900"/>
    <a:srgbClr val="3333FF"/>
    <a:srgbClr val="00FFCC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ACBF5-DE94-6E01-9A8A-5858753D0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924661-29A4-A029-A5F4-27362D9C1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B253DF-520C-54D5-EE5C-760103E2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2B40B7-60AC-A6F6-FAB9-DF56F245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8277EF-B0D8-92D8-E481-1D8F98C5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976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857A3-8DFE-D53A-B4EC-F6896A63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E25035-EFE0-3244-E443-587FE37AC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DDF6A2-052F-FE8B-91D0-AB756B70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6F65B-6304-CA2A-1323-525532A6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F49C3C-0D24-CFC3-756C-B4F41292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488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4808B-5EF3-2187-D018-0D0BD3EF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99B42B-FA87-5277-AB4F-423AE8026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83AF03-33E6-8E4A-0AE6-EC924829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283947-99F5-8E3D-71BF-ABB0F3D5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5957B0-39DC-B936-0FBF-AB3AA84F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645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B848D-0DD4-35A2-C59D-5D52C227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0F517-FC30-856B-47BB-19B4EEB84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7227E1-BB67-4C5D-AD73-6E7861075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C3C1E0-E826-6679-AF45-5A9B9757E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B15D14-7F23-169A-5B45-402F9156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F2B20A-5982-5252-C33C-93A90214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798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D9041-56CA-2246-3B25-C0A207E8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3E4CA8-00F2-B88E-E590-722ABCC5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EF24E3-F711-692E-E125-5FD484672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F46C3F-89E4-6305-CDA8-E8DBCF8C8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B647D2-2DC1-1F3D-053C-B1EDC7C2F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585DAD-C806-8D2E-8031-D0BADF9DC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6ED179-5F27-DE16-3EF3-74FB0F5E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B37B34-3AC6-EEB6-FC1D-571563AC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4591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9FA92-AA92-E50D-52E5-62B698C0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6A9477-8456-D2DE-502A-31CBF8A8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205B20-DF70-E255-B510-08DE6AE8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8256BB-C99E-DCF4-D312-3942B216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156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25CC4D1-DAD5-A18C-07C8-2D85CC03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E68CCA-1F28-5D31-C58C-52BC94C6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FFBC88-CF84-8B7B-6ACC-194A47F0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175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FDE66-6378-B02C-EA6B-3CEEC07A9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4821AC-400F-0AD5-0201-A1AE5FC12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9826BA-3670-FC61-B8AF-D2561D447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1F958B-1E75-A7BE-ED5B-E0C90F03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7C2597-7E36-0AE1-B0A5-ADA1B99E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50351A-6FD2-C2EE-68EA-884CFC7E4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382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37862-AAB6-4702-0C77-6B5836D94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6E4236-1D4A-6C78-C5F5-7EEB0064B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431F9D-F2B7-AF96-4C88-9DFF1922A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828EA5-BA9E-61D0-EF6C-5EE4C52A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492575-467E-6606-C672-6CF98A4E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9A7D3C-0237-5D2A-2F63-C9422492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297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93DD9-87F0-1CFE-B610-20DCDB1D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9DAC44-C0A2-DDAB-8767-DF1641417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20D8E7-63CC-D068-C3AD-13B8208B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107ADE-BE2B-B59E-B547-CDA0A862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9D49BB-7AC5-11BF-90AD-38508556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571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D7BAB0-640F-6127-B27D-204107A28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537EE4-E9EC-3400-E14F-8CAB430BA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103783-6C8B-EF39-C4C2-9D654A25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EC8F67-6425-59D0-903B-542B3EE7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C0BE6E-58DF-0E86-B6D7-CAE8D3C1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395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7333CA-9467-4B74-5926-D2EC47F5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1A23D8-082B-D431-9E23-E26159C22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42FDE6-156A-EA4D-FDCB-A58620176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59DA1-F626-4EF5-8ACF-4FA23835E49D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879F8F-3718-B31C-E0A3-D326563BA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E4A105-49E5-E302-12B3-BAAE77AF1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9AF99-50D7-412E-919B-29152C6FB79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37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77E12-DED6-AAD0-A70C-AFF0F034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381" y="423100"/>
            <a:ext cx="5312899" cy="1410880"/>
          </a:xfrm>
          <a:noFill/>
          <a:effectLst/>
        </p:spPr>
        <p:txBody>
          <a:bodyPr>
            <a:noAutofit/>
          </a:bodyPr>
          <a:lstStyle/>
          <a:p>
            <a:pPr algn="l"/>
            <a:r>
              <a:rPr lang="es-MX" sz="4800" b="1" i="1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PROYECTO </a:t>
            </a:r>
            <a:br>
              <a:rPr lang="es-MX" sz="4800" b="1" i="1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s-MX" sz="4800" b="1" i="1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s-MX" sz="4400" b="1" i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E-COMMERCE</a:t>
            </a:r>
            <a:endParaRPr lang="es-CL" sz="4400" b="1" i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4E565C-B293-92AC-30E8-999E29188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563" y="4779138"/>
            <a:ext cx="5453576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s-MX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Nombre: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Marcos Vera</a:t>
            </a:r>
          </a:p>
          <a:p>
            <a:pPr algn="l"/>
            <a:r>
              <a:rPr lang="es-MX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Profesora: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Karla Roco</a:t>
            </a:r>
          </a:p>
          <a:p>
            <a:pPr algn="l"/>
            <a:r>
              <a:rPr lang="es-MX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Asignatura: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Portafolio de título</a:t>
            </a:r>
          </a:p>
          <a:p>
            <a:pPr algn="l"/>
            <a:r>
              <a:rPr lang="es-MX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Fecha:</a:t>
            </a:r>
            <a:r>
              <a:rPr lang="es-MX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s-MX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06/04/2026</a:t>
            </a:r>
          </a:p>
          <a:p>
            <a:pPr algn="l"/>
            <a:endParaRPr lang="es-CL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B0B25129-5E79-7841-4A5B-DCC3311F4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81" y="254147"/>
            <a:ext cx="2335237" cy="728492"/>
          </a:xfrm>
          <a:prstGeom prst="rect">
            <a:avLst/>
          </a:prstGeom>
          <a:ln>
            <a:noFill/>
          </a:ln>
          <a:effectLst>
            <a:glow rad="228600">
              <a:srgbClr val="FFC000">
                <a:alpha val="40000"/>
              </a:srgbClr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0622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chemeClr val="accent3">
                <a:lumMod val="60000"/>
                <a:lumOff val="40000"/>
              </a:schemeClr>
            </a:gs>
            <a:gs pos="90000">
              <a:schemeClr val="accent3">
                <a:lumMod val="40000"/>
                <a:lumOff val="60000"/>
              </a:schemeClr>
            </a:gs>
            <a:gs pos="78000">
              <a:srgbClr val="FFFF00"/>
            </a:gs>
            <a:gs pos="54000">
              <a:schemeClr val="bg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B4F02-FEBC-7F77-841F-25F8A706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08" y="254147"/>
            <a:ext cx="8320585" cy="933207"/>
          </a:xfrm>
        </p:spPr>
        <p:txBody>
          <a:bodyPr>
            <a:noAutofit/>
          </a:bodyPr>
          <a:lstStyle/>
          <a:p>
            <a:r>
              <a:rPr lang="es-MX" sz="3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Definición, problema y solución </a:t>
            </a:r>
            <a:endParaRPr lang="es-CL" sz="3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88384-6CA4-1976-0C2E-C860BBD4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09" y="1323833"/>
            <a:ext cx="11063784" cy="51725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Este p</a:t>
            </a:r>
            <a:r>
              <a:rPr lang="es-C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royecto se basa en un sitio web de comercio electrónico </a:t>
            </a:r>
            <a:r>
              <a:rPr lang="es-CL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</a:t>
            </a:r>
            <a:r>
              <a:rPr lang="es-CL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compra y venta de productos tecnológicos, el cual integra carrito de compras y pasarelas de pago.</a:t>
            </a:r>
            <a:r>
              <a:rPr lang="es-CL" sz="2400" dirty="0">
                <a:solidFill>
                  <a:srgbClr val="00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s-CL" sz="200" dirty="0">
              <a:solidFill>
                <a:srgbClr val="000000"/>
              </a:solidFill>
              <a:effectLst/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CL" sz="200" dirty="0">
              <a:solidFill>
                <a:srgbClr val="000000"/>
              </a:solidFill>
              <a:effectLst/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MX" sz="2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Problemática:</a:t>
            </a:r>
          </a:p>
          <a:p>
            <a:pPr marL="0" indent="0">
              <a:buNone/>
            </a:pPr>
            <a:endParaRPr lang="es-CL" sz="2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CL" sz="2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CL" sz="2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Mala experiencia de usuario UX.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L" sz="2600" b="1" dirty="0">
                <a:solidFill>
                  <a:srgbClr val="FF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CL" sz="2400" b="1" dirty="0">
                <a:solidFill>
                  <a:srgbClr val="FF0000"/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Diseño no responsivo.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L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CL" sz="24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Vulneración de la seguridad de datos.</a:t>
            </a:r>
          </a:p>
          <a:p>
            <a:pPr marL="0" indent="0">
              <a:buNone/>
            </a:pPr>
            <a:endParaRPr lang="es-CL" sz="200" dirty="0">
              <a:solidFill>
                <a:srgbClr val="0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CL" sz="200" dirty="0">
              <a:solidFill>
                <a:srgbClr val="0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CL" sz="26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Solución:</a:t>
            </a:r>
          </a:p>
          <a:p>
            <a:pPr marL="0" indent="0">
              <a:buNone/>
            </a:pPr>
            <a:endParaRPr lang="es-CL" sz="200" b="1" dirty="0">
              <a:solidFill>
                <a:schemeClr val="accent4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CL" sz="2400" b="1" dirty="0">
                <a:solidFill>
                  <a:srgbClr val="33CC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Diseñar una interfaz de usuario intuitiva.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L" sz="2400" b="1" dirty="0">
                <a:solidFill>
                  <a:srgbClr val="33CC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Establecer que el sitio web sea responsivo.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L" sz="2400" b="1" dirty="0">
                <a:solidFill>
                  <a:srgbClr val="33CC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Integrar pasarelas de pago seguras.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D50A4DFF-B1F4-AE5C-BAF5-8F340D27D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81" y="254147"/>
            <a:ext cx="2372751" cy="728492"/>
          </a:xfrm>
          <a:prstGeom prst="rect">
            <a:avLst/>
          </a:prstGeom>
          <a:ln>
            <a:noFill/>
          </a:ln>
          <a:effectLst>
            <a:glow rad="228600">
              <a:srgbClr val="FFC000">
                <a:alpha val="40000"/>
              </a:srgbClr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1650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</a:schemeClr>
            </a:gs>
            <a:gs pos="30000">
              <a:srgbClr val="3333FF"/>
            </a:gs>
            <a:gs pos="100000">
              <a:schemeClr val="bg1"/>
            </a:gs>
            <a:gs pos="72000">
              <a:schemeClr val="accent5">
                <a:lumMod val="60000"/>
                <a:lumOff val="4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B4F02-FEBC-7F77-841F-25F8A706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01334" cy="1325563"/>
          </a:xfrm>
        </p:spPr>
        <p:txBody>
          <a:bodyPr>
            <a:normAutofit/>
          </a:bodyPr>
          <a:lstStyle/>
          <a:p>
            <a:r>
              <a:rPr lang="es-MX" sz="3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Herramientas de desarrollo</a:t>
            </a:r>
            <a:endParaRPr lang="es-CL" sz="3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88384-6CA4-1976-0C2E-C860BBD4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45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desarrollo del proyecto será realizado de la siguiente manera:</a:t>
            </a:r>
          </a:p>
          <a:p>
            <a:pPr marL="0" indent="0">
              <a:buNone/>
            </a:pPr>
            <a:endParaRPr lang="es-CL" b="1" i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CL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Arquitectura: </a:t>
            </a:r>
            <a:r>
              <a:rPr lang="es-CL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arquitectura será MVC (modelo-vista-controlador).</a:t>
            </a:r>
          </a:p>
          <a:p>
            <a:pPr marL="0" indent="0">
              <a:buNone/>
            </a:pPr>
            <a:endParaRPr lang="es-CL" sz="800" b="1" i="1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CL" b="1" i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CL" b="1" i="1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Backend</a:t>
            </a:r>
            <a:r>
              <a:rPr lang="es-CL" b="1" i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Java, Spring </a:t>
            </a:r>
            <a:r>
              <a:rPr lang="es-CL" i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</a:t>
            </a: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JPA-</a:t>
            </a:r>
            <a:r>
              <a:rPr lang="es-CL" i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Hibernate</a:t>
            </a: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&amp; Spring Security.</a:t>
            </a:r>
          </a:p>
          <a:p>
            <a:pPr marL="0" indent="0">
              <a:buNone/>
            </a:pPr>
            <a:endParaRPr lang="es-CL" sz="800" i="1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CL" b="1" i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CL" b="1" i="1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Frontend</a:t>
            </a:r>
            <a:r>
              <a:rPr lang="es-CL" b="1" i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HTML, Bootstrap &amp; </a:t>
            </a:r>
            <a:r>
              <a:rPr lang="es-CL" i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Thymeleaf</a:t>
            </a: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CL" sz="800" i="1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CL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Base de datos:</a:t>
            </a:r>
            <a:r>
              <a:rPr lang="es-CL" i="1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CL" i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MySql</a:t>
            </a: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CL" i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Workbench</a:t>
            </a:r>
            <a:r>
              <a:rPr lang="es-CL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CL" dirty="0"/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A0E78508-BEC2-157B-B94E-B568DC056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81" y="254147"/>
            <a:ext cx="2335237" cy="728492"/>
          </a:xfrm>
          <a:prstGeom prst="rect">
            <a:avLst/>
          </a:prstGeom>
          <a:ln>
            <a:noFill/>
          </a:ln>
          <a:effectLst>
            <a:glow rad="228600">
              <a:srgbClr val="3333FF">
                <a:alpha val="40000"/>
              </a:srgbClr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550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FFCC"/>
            </a:gs>
            <a:gs pos="49000">
              <a:srgbClr val="33CCFF"/>
            </a:gs>
            <a:gs pos="74000">
              <a:schemeClr val="bg1">
                <a:lumMod val="95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B4F02-FEBC-7F77-841F-25F8A706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28" y="365125"/>
            <a:ext cx="8379726" cy="728493"/>
          </a:xfrm>
        </p:spPr>
        <p:txBody>
          <a:bodyPr>
            <a:normAutofit/>
          </a:bodyPr>
          <a:lstStyle/>
          <a:p>
            <a:r>
              <a:rPr lang="es-MX" sz="3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Metodología SCRUM</a:t>
            </a:r>
            <a:endParaRPr lang="es-CL" sz="3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88384-6CA4-1976-0C2E-C860BBD4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28" y="1214651"/>
            <a:ext cx="11436404" cy="5389203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CL" sz="23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proyecto tendrá 6 etapas en total, de las cuales 5 tendrán </a:t>
            </a:r>
            <a:r>
              <a:rPr lang="es-CL" sz="23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sprints</a:t>
            </a:r>
            <a:r>
              <a:rPr lang="es-CL" sz="23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2 semanas cada una y la etapa 6 tendrá un sprint de 1 semana. </a:t>
            </a:r>
            <a:r>
              <a:rPr lang="es-CL" sz="23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s-CL" sz="23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starán conformados de la siguiente manera: </a:t>
            </a:r>
            <a:endParaRPr lang="es-CL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L" sz="23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Sprint 1: 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c</a:t>
            </a:r>
            <a:r>
              <a:rPr lang="es-CL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 la estructura, las clases </a:t>
            </a:r>
            <a:r>
              <a:rPr lang="es-CL" sz="23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es-CL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se integra Bootstrap al proyecto.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L" sz="23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Sprint 2: </a:t>
            </a:r>
            <a:r>
              <a:rPr lang="es-CL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c</a:t>
            </a:r>
            <a:r>
              <a:rPr lang="es-CL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 el </a:t>
            </a:r>
            <a:r>
              <a:rPr lang="es-CL" sz="23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  <a:r>
              <a:rPr lang="es-CL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el </a:t>
            </a:r>
            <a:r>
              <a:rPr lang="es-CL" sz="23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header</a:t>
            </a:r>
            <a:r>
              <a:rPr lang="es-CL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el </a:t>
            </a:r>
            <a:r>
              <a:rPr lang="es-CL" sz="23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footer</a:t>
            </a:r>
            <a:r>
              <a:rPr lang="es-CL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la clase </a:t>
            </a:r>
            <a:r>
              <a:rPr lang="es-CL" sz="23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</a:t>
            </a:r>
            <a:r>
              <a:rPr lang="es-CL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clase </a:t>
            </a:r>
            <a:r>
              <a:rPr lang="es-CL" sz="23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las </a:t>
            </a:r>
            <a:r>
              <a:rPr lang="es-CL" sz="23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views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CL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L" sz="23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Sprint 3: 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implementan métodos, conexión a base de datos y funcionalidades en general.</a:t>
            </a:r>
            <a:endParaRPr lang="es-CL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L" sz="23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Sprint 4: 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realizan pruebas, por ejemplo, redirección entre páginas, visualización de productos, etc.</a:t>
            </a:r>
            <a:endParaRPr lang="es-CL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CL" sz="23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Sprint 5: 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lleva a cabo la autenticación de usuario, </a:t>
            </a:r>
            <a:r>
              <a:rPr lang="es-CL" sz="23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login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tipos de usuario y funcionalidades generales.</a:t>
            </a:r>
            <a:endParaRPr lang="es-CL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23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Sprint 6: </a:t>
            </a:r>
            <a:r>
              <a:rPr lang="es-CL" sz="23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aplica la seguridad, protección de claves, configuración y pruebas finales del proyecto.</a:t>
            </a:r>
            <a:endParaRPr lang="es-CL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D50A4DFF-B1F4-AE5C-BAF5-8F340D27D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81" y="254147"/>
            <a:ext cx="2372751" cy="728492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lumMod val="60000"/>
                <a:lumOff val="40000"/>
                <a:alpha val="40000"/>
              </a:schemeClr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505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95000"/>
              </a:schemeClr>
            </a:gs>
            <a:gs pos="92000">
              <a:srgbClr val="00B0F0"/>
            </a:gs>
            <a:gs pos="0">
              <a:schemeClr val="accent1">
                <a:lumMod val="40000"/>
                <a:lumOff val="60000"/>
              </a:schemeClr>
            </a:gs>
            <a:gs pos="23000">
              <a:srgbClr val="1A72F8"/>
            </a:gs>
            <a:gs pos="72000">
              <a:srgbClr val="3333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B4F02-FEBC-7F77-841F-25F8A706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78254" cy="728493"/>
          </a:xfrm>
        </p:spPr>
        <p:txBody>
          <a:bodyPr>
            <a:normAutofit/>
          </a:bodyPr>
          <a:lstStyle/>
          <a:p>
            <a:r>
              <a:rPr lang="es-MX" sz="3800" b="1" u="sng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Roles</a:t>
            </a:r>
            <a:endParaRPr lang="es-CL" sz="3800" b="1" u="sng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688384-6CA4-1976-0C2E-C860BBD4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302"/>
            <a:ext cx="11034932" cy="5128099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2600" b="1" i="1" dirty="0" err="1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Product</a:t>
            </a:r>
            <a:r>
              <a:rPr lang="es-CL" sz="2600" b="1" i="1" dirty="0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CL" sz="2600" b="1" i="1" dirty="0" err="1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r>
              <a:rPr lang="es-CL" sz="2600" b="1" i="1" dirty="0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CL" sz="2600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reunirá con el cliente, tomará los requerimientos necesarios, los objetivos del negocio, definirá las funcionalidades y creará el backlog para llevar a cabo el proyecto.</a:t>
            </a:r>
            <a:r>
              <a:rPr lang="es-CL" sz="26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s-CL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2600" b="1" i="1" dirty="0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Scrum Master:</a:t>
            </a:r>
            <a:r>
              <a:rPr lang="es-CL" sz="2600" b="1" i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CL" sz="2600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encargará de organizar las reuniones de planificación de </a:t>
            </a:r>
            <a:r>
              <a:rPr lang="es-CL" sz="2600" i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sprints</a:t>
            </a:r>
            <a:r>
              <a:rPr lang="es-CL" sz="2600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donde se evaluará al equipo, se tomarán decisiones sobre los trabajos pendientes, etc. También, organizará las reuniones diarias (</a:t>
            </a:r>
            <a:r>
              <a:rPr lang="es-CL" sz="2600" i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daily</a:t>
            </a:r>
            <a:r>
              <a:rPr lang="es-CL" sz="2600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scrum) para evaluar el progreso hacia el objetivo. Además, se encargará de eliminar cualquier obstáculo externo o interno para que el proyecto avance.</a:t>
            </a:r>
            <a:endParaRPr lang="es-CL" sz="2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2600" b="1" i="1" dirty="0" err="1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Team</a:t>
            </a:r>
            <a:r>
              <a:rPr lang="es-CL" sz="2600" b="1" i="1" dirty="0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CL" sz="2600" b="1" i="1" dirty="0" err="1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Developer</a:t>
            </a:r>
            <a:r>
              <a:rPr lang="es-CL" sz="2600" b="1" i="1" dirty="0">
                <a:solidFill>
                  <a:srgbClr val="FF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CL" sz="2600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encargarán de la creación, el diseño y las pruebas del producto, del cual harán entregas funcionales al término de cada ciclo de trabajo (sprint).</a:t>
            </a:r>
            <a:endParaRPr lang="es-CL" sz="2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D50A4DFF-B1F4-AE5C-BAF5-8F340D27D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81" y="254147"/>
            <a:ext cx="2372751" cy="728492"/>
          </a:xfrm>
          <a:prstGeom prst="rect">
            <a:avLst/>
          </a:prstGeom>
          <a:ln>
            <a:noFill/>
          </a:ln>
          <a:effectLst>
            <a:glow rad="228600">
              <a:srgbClr val="FF0000">
                <a:alpha val="40000"/>
              </a:srgbClr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7019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7000">
              <a:schemeClr val="bg1"/>
            </a:gs>
            <a:gs pos="24000">
              <a:srgbClr val="FFD85B"/>
            </a:gs>
            <a:gs pos="100000">
              <a:srgbClr val="FFD85B"/>
            </a:gs>
            <a:gs pos="10000">
              <a:schemeClr val="bg1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687429B-0AEC-86AE-DAAA-7AA19BAE1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944658"/>
              </p:ext>
            </p:extLst>
          </p:nvPr>
        </p:nvGraphicFramePr>
        <p:xfrm>
          <a:off x="530271" y="973712"/>
          <a:ext cx="11131457" cy="56853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3488">
                  <a:extLst>
                    <a:ext uri="{9D8B030D-6E8A-4147-A177-3AD203B41FA5}">
                      <a16:colId xmlns:a16="http://schemas.microsoft.com/office/drawing/2014/main" val="3978787684"/>
                    </a:ext>
                  </a:extLst>
                </a:gridCol>
                <a:gridCol w="251515">
                  <a:extLst>
                    <a:ext uri="{9D8B030D-6E8A-4147-A177-3AD203B41FA5}">
                      <a16:colId xmlns:a16="http://schemas.microsoft.com/office/drawing/2014/main" val="3861873210"/>
                    </a:ext>
                  </a:extLst>
                </a:gridCol>
                <a:gridCol w="283929">
                  <a:extLst>
                    <a:ext uri="{9D8B030D-6E8A-4147-A177-3AD203B41FA5}">
                      <a16:colId xmlns:a16="http://schemas.microsoft.com/office/drawing/2014/main" val="2363646981"/>
                    </a:ext>
                  </a:extLst>
                </a:gridCol>
                <a:gridCol w="283929">
                  <a:extLst>
                    <a:ext uri="{9D8B030D-6E8A-4147-A177-3AD203B41FA5}">
                      <a16:colId xmlns:a16="http://schemas.microsoft.com/office/drawing/2014/main" val="1707542760"/>
                    </a:ext>
                  </a:extLst>
                </a:gridCol>
                <a:gridCol w="294756">
                  <a:extLst>
                    <a:ext uri="{9D8B030D-6E8A-4147-A177-3AD203B41FA5}">
                      <a16:colId xmlns:a16="http://schemas.microsoft.com/office/drawing/2014/main" val="2054156267"/>
                    </a:ext>
                  </a:extLst>
                </a:gridCol>
                <a:gridCol w="684030">
                  <a:extLst>
                    <a:ext uri="{9D8B030D-6E8A-4147-A177-3AD203B41FA5}">
                      <a16:colId xmlns:a16="http://schemas.microsoft.com/office/drawing/2014/main" val="134283329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2649763339"/>
                    </a:ext>
                  </a:extLst>
                </a:gridCol>
                <a:gridCol w="649483">
                  <a:extLst>
                    <a:ext uri="{9D8B030D-6E8A-4147-A177-3AD203B41FA5}">
                      <a16:colId xmlns:a16="http://schemas.microsoft.com/office/drawing/2014/main" val="1322892333"/>
                    </a:ext>
                  </a:extLst>
                </a:gridCol>
                <a:gridCol w="664648">
                  <a:extLst>
                    <a:ext uri="{9D8B030D-6E8A-4147-A177-3AD203B41FA5}">
                      <a16:colId xmlns:a16="http://schemas.microsoft.com/office/drawing/2014/main" val="717912293"/>
                    </a:ext>
                  </a:extLst>
                </a:gridCol>
                <a:gridCol w="778651">
                  <a:extLst>
                    <a:ext uri="{9D8B030D-6E8A-4147-A177-3AD203B41FA5}">
                      <a16:colId xmlns:a16="http://schemas.microsoft.com/office/drawing/2014/main" val="3846242936"/>
                    </a:ext>
                  </a:extLst>
                </a:gridCol>
                <a:gridCol w="778651">
                  <a:extLst>
                    <a:ext uri="{9D8B030D-6E8A-4147-A177-3AD203B41FA5}">
                      <a16:colId xmlns:a16="http://schemas.microsoft.com/office/drawing/2014/main" val="1457881697"/>
                    </a:ext>
                  </a:extLst>
                </a:gridCol>
                <a:gridCol w="707668">
                  <a:extLst>
                    <a:ext uri="{9D8B030D-6E8A-4147-A177-3AD203B41FA5}">
                      <a16:colId xmlns:a16="http://schemas.microsoft.com/office/drawing/2014/main" val="3640647055"/>
                    </a:ext>
                  </a:extLst>
                </a:gridCol>
                <a:gridCol w="703368">
                  <a:extLst>
                    <a:ext uri="{9D8B030D-6E8A-4147-A177-3AD203B41FA5}">
                      <a16:colId xmlns:a16="http://schemas.microsoft.com/office/drawing/2014/main" val="2507368382"/>
                    </a:ext>
                  </a:extLst>
                </a:gridCol>
                <a:gridCol w="699327">
                  <a:extLst>
                    <a:ext uri="{9D8B030D-6E8A-4147-A177-3AD203B41FA5}">
                      <a16:colId xmlns:a16="http://schemas.microsoft.com/office/drawing/2014/main" val="2247775231"/>
                    </a:ext>
                  </a:extLst>
                </a:gridCol>
                <a:gridCol w="787280">
                  <a:extLst>
                    <a:ext uri="{9D8B030D-6E8A-4147-A177-3AD203B41FA5}">
                      <a16:colId xmlns:a16="http://schemas.microsoft.com/office/drawing/2014/main" val="80371867"/>
                    </a:ext>
                  </a:extLst>
                </a:gridCol>
                <a:gridCol w="595837">
                  <a:extLst>
                    <a:ext uri="{9D8B030D-6E8A-4147-A177-3AD203B41FA5}">
                      <a16:colId xmlns:a16="http://schemas.microsoft.com/office/drawing/2014/main" val="1941147899"/>
                    </a:ext>
                  </a:extLst>
                </a:gridCol>
                <a:gridCol w="358697">
                  <a:extLst>
                    <a:ext uri="{9D8B030D-6E8A-4147-A177-3AD203B41FA5}">
                      <a16:colId xmlns:a16="http://schemas.microsoft.com/office/drawing/2014/main" val="1880780868"/>
                    </a:ext>
                  </a:extLst>
                </a:gridCol>
                <a:gridCol w="312425">
                  <a:extLst>
                    <a:ext uri="{9D8B030D-6E8A-4147-A177-3AD203B41FA5}">
                      <a16:colId xmlns:a16="http://schemas.microsoft.com/office/drawing/2014/main" val="2907339641"/>
                    </a:ext>
                  </a:extLst>
                </a:gridCol>
                <a:gridCol w="335560">
                  <a:extLst>
                    <a:ext uri="{9D8B030D-6E8A-4147-A177-3AD203B41FA5}">
                      <a16:colId xmlns:a16="http://schemas.microsoft.com/office/drawing/2014/main" val="4195494742"/>
                    </a:ext>
                  </a:extLst>
                </a:gridCol>
              </a:tblGrid>
              <a:tr h="253367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200" dirty="0">
                          <a:effectLst/>
                        </a:rPr>
                        <a:t>Actividad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200" dirty="0">
                          <a:effectLst/>
                        </a:rPr>
                        <a:t>Fase 1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200" dirty="0">
                          <a:effectLst/>
                        </a:rPr>
                        <a:t>Fase 2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200" dirty="0">
                          <a:effectLst/>
                        </a:rPr>
                        <a:t>Fase 3</a:t>
                      </a:r>
                      <a:endParaRPr lang="es-CL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124125"/>
                  </a:ext>
                </a:extLst>
              </a:tr>
              <a:tr h="26542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2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3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4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5 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6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7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8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9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10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11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12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13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14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15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16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r>
                        <a:rPr lang="es-CL" sz="700">
                          <a:effectLst/>
                        </a:rPr>
                        <a:t>S 17</a:t>
                      </a:r>
                      <a:endParaRPr lang="es-CL"/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S 18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extLst>
                  <a:ext uri="{0D108BD9-81ED-4DB2-BD59-A6C34878D82A}">
                    <a16:rowId xmlns:a16="http://schemas.microsoft.com/office/drawing/2014/main" val="2852915753"/>
                  </a:ext>
                </a:extLst>
              </a:tr>
              <a:tr h="728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Diseño, planificación y definición del proyecto</a:t>
                      </a: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333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r>
                        <a:rPr lang="es-CL" sz="700">
                          <a:effectLst/>
                        </a:rPr>
                        <a:t> </a:t>
                      </a:r>
                      <a:endParaRPr lang="es-CL"/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extLst>
                  <a:ext uri="{0D108BD9-81ED-4DB2-BD59-A6C34878D82A}">
                    <a16:rowId xmlns:a16="http://schemas.microsoft.com/office/drawing/2014/main" val="4008537424"/>
                  </a:ext>
                </a:extLst>
              </a:tr>
              <a:tr h="728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Creación de la estructura, clases e Integración de Bootstrap</a:t>
                      </a:r>
                    </a:p>
                  </a:txBody>
                  <a:tcPr marL="57495" marR="57495" marT="0" marB="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r>
                        <a:rPr lang="es-CL" sz="700">
                          <a:effectLst/>
                        </a:rPr>
                        <a:t> </a:t>
                      </a:r>
                      <a:endParaRPr lang="es-CL"/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extLst>
                  <a:ext uri="{0D108BD9-81ED-4DB2-BD59-A6C34878D82A}">
                    <a16:rowId xmlns:a16="http://schemas.microsoft.com/office/drawing/2014/main" val="849813589"/>
                  </a:ext>
                </a:extLst>
              </a:tr>
              <a:tr h="728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Creación de </a:t>
                      </a:r>
                      <a:r>
                        <a:rPr lang="es-CL" sz="1100" dirty="0" err="1">
                          <a:effectLst/>
                        </a:rPr>
                        <a:t>template</a:t>
                      </a:r>
                      <a:r>
                        <a:rPr lang="es-CL" sz="1100" dirty="0">
                          <a:effectLst/>
                        </a:rPr>
                        <a:t>, </a:t>
                      </a:r>
                      <a:r>
                        <a:rPr lang="es-CL" sz="1100" dirty="0" err="1">
                          <a:effectLst/>
                        </a:rPr>
                        <a:t>header</a:t>
                      </a:r>
                      <a:r>
                        <a:rPr lang="es-CL" sz="1100" dirty="0">
                          <a:effectLst/>
                        </a:rPr>
                        <a:t>, </a:t>
                      </a:r>
                      <a:r>
                        <a:rPr lang="es-CL" sz="1100" dirty="0" err="1">
                          <a:effectLst/>
                        </a:rPr>
                        <a:t>footer</a:t>
                      </a:r>
                      <a:r>
                        <a:rPr lang="es-CL" sz="1100" dirty="0">
                          <a:effectLst/>
                        </a:rPr>
                        <a:t>, </a:t>
                      </a:r>
                      <a:r>
                        <a:rPr lang="es-CL" sz="1100" dirty="0" err="1">
                          <a:effectLst/>
                        </a:rPr>
                        <a:t>service</a:t>
                      </a:r>
                      <a:r>
                        <a:rPr lang="es-CL" sz="1100" dirty="0">
                          <a:effectLst/>
                        </a:rPr>
                        <a:t>, </a:t>
                      </a:r>
                      <a:r>
                        <a:rPr lang="es-CL" sz="1100" dirty="0" err="1">
                          <a:effectLst/>
                        </a:rPr>
                        <a:t>controller</a:t>
                      </a:r>
                      <a:r>
                        <a:rPr lang="es-CL" sz="1100" dirty="0">
                          <a:effectLst/>
                        </a:rPr>
                        <a:t> y </a:t>
                      </a:r>
                      <a:r>
                        <a:rPr lang="es-CL" sz="1100" dirty="0" err="1">
                          <a:effectLst/>
                        </a:rPr>
                        <a:t>views</a:t>
                      </a:r>
                      <a:endParaRPr lang="es-CL" sz="1100" dirty="0">
                        <a:effectLst/>
                      </a:endParaRP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r>
                        <a:rPr lang="es-CL" sz="700">
                          <a:effectLst/>
                        </a:rPr>
                        <a:t> </a:t>
                      </a:r>
                      <a:endParaRPr lang="es-CL"/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extLst>
                  <a:ext uri="{0D108BD9-81ED-4DB2-BD59-A6C34878D82A}">
                    <a16:rowId xmlns:a16="http://schemas.microsoft.com/office/drawing/2014/main" val="4232650720"/>
                  </a:ext>
                </a:extLst>
              </a:tr>
              <a:tr h="6189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Implementar métodos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Y funcionalidades</a:t>
                      </a: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r>
                        <a:rPr lang="es-CL" sz="700">
                          <a:effectLst/>
                        </a:rPr>
                        <a:t> </a:t>
                      </a:r>
                      <a:endParaRPr lang="es-CL"/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extLst>
                  <a:ext uri="{0D108BD9-81ED-4DB2-BD59-A6C34878D82A}">
                    <a16:rowId xmlns:a16="http://schemas.microsoft.com/office/drawing/2014/main" val="3390361675"/>
                  </a:ext>
                </a:extLst>
              </a:tr>
              <a:tr h="728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Pruebas de redirección y muestra de productos</a:t>
                      </a: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r>
                        <a:rPr lang="es-CL" sz="700">
                          <a:effectLst/>
                        </a:rPr>
                        <a:t> </a:t>
                      </a:r>
                      <a:endParaRPr lang="es-CL"/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extLst>
                  <a:ext uri="{0D108BD9-81ED-4DB2-BD59-A6C34878D82A}">
                    <a16:rowId xmlns:a16="http://schemas.microsoft.com/office/drawing/2014/main" val="166780637"/>
                  </a:ext>
                </a:extLst>
              </a:tr>
              <a:tr h="728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Autenticación de usuario y funcionalidades generales</a:t>
                      </a: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r>
                        <a:rPr lang="es-CL" sz="700">
                          <a:effectLst/>
                        </a:rPr>
                        <a:t> </a:t>
                      </a:r>
                      <a:endParaRPr lang="es-CL"/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extLst>
                  <a:ext uri="{0D108BD9-81ED-4DB2-BD59-A6C34878D82A}">
                    <a16:rowId xmlns:a16="http://schemas.microsoft.com/office/drawing/2014/main" val="2928516808"/>
                  </a:ext>
                </a:extLst>
              </a:tr>
              <a:tr h="5447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Seguridad y configuración final</a:t>
                      </a: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r>
                        <a:rPr lang="es-CL" sz="700">
                          <a:effectLst/>
                        </a:rPr>
                        <a:t> </a:t>
                      </a:r>
                      <a:endParaRPr lang="es-CL"/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extLst>
                  <a:ext uri="{0D108BD9-81ED-4DB2-BD59-A6C34878D82A}">
                    <a16:rowId xmlns:a16="http://schemas.microsoft.com/office/drawing/2014/main" val="251463429"/>
                  </a:ext>
                </a:extLst>
              </a:tr>
              <a:tr h="3610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</a:rPr>
                        <a:t>Presentación del Proyecto</a:t>
                      </a:r>
                    </a:p>
                  </a:txBody>
                  <a:tcPr marL="57495" marR="57495" marT="0" marB="0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>
                          <a:effectLst/>
                        </a:rPr>
                        <a:t> </a:t>
                      </a:r>
                      <a:endParaRPr lang="es-CL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dirty="0"/>
                    </a:p>
                  </a:txBody>
                  <a:tcPr marL="57495" marR="57495" marT="0" marB="0"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700" dirty="0">
                          <a:effectLst/>
                        </a:rPr>
                        <a:t> </a:t>
                      </a:r>
                      <a:endParaRPr lang="es-CL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95" marR="57495" marT="0" marB="0">
                    <a:solidFill>
                      <a:srgbClr val="00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760844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F79D5859-D133-32D7-9558-514B424D9F9D}"/>
              </a:ext>
            </a:extLst>
          </p:cNvPr>
          <p:cNvSpPr txBox="1">
            <a:spLocks/>
          </p:cNvSpPr>
          <p:nvPr/>
        </p:nvSpPr>
        <p:spPr>
          <a:xfrm>
            <a:off x="530272" y="184340"/>
            <a:ext cx="10128630" cy="55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 de trabajo: Carta Gantt</a:t>
            </a:r>
            <a:endParaRPr lang="es-CL" sz="3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66973051-A53C-33E9-A05B-E8C3CE46D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282" y="134162"/>
            <a:ext cx="2335237" cy="728492"/>
          </a:xfrm>
          <a:prstGeom prst="rect">
            <a:avLst/>
          </a:prstGeom>
          <a:ln>
            <a:noFill/>
          </a:ln>
          <a:effectLst>
            <a:glow rad="228600">
              <a:srgbClr val="FFC000">
                <a:alpha val="40000"/>
              </a:srgbClr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7480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694</Words>
  <Application>Microsoft Office PowerPoint</Application>
  <PresentationFormat>Panorámica</PresentationFormat>
  <Paragraphs>219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Symbol</vt:lpstr>
      <vt:lpstr>Tahoma</vt:lpstr>
      <vt:lpstr>Times New Roman</vt:lpstr>
      <vt:lpstr>Wingdings</vt:lpstr>
      <vt:lpstr>Tema de Office</vt:lpstr>
      <vt:lpstr>PROYECTO   E-COMMERCE</vt:lpstr>
      <vt:lpstr>Definición, problema y solución </vt:lpstr>
      <vt:lpstr>Herramientas de desarrollo</vt:lpstr>
      <vt:lpstr>Metodología SCRUM</vt:lpstr>
      <vt:lpstr>Roles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Underground</dc:creator>
  <cp:lastModifiedBy>Underground</cp:lastModifiedBy>
  <cp:revision>29</cp:revision>
  <dcterms:created xsi:type="dcterms:W3CDTF">2026-04-01T06:54:38Z</dcterms:created>
  <dcterms:modified xsi:type="dcterms:W3CDTF">2026-04-06T05:11:09Z</dcterms:modified>
</cp:coreProperties>
</file>